
<file path=[Content_Types].xml><?xml version="1.0" encoding="utf-8"?>
<Types xmlns="http://schemas.openxmlformats.org/package/2006/content-types">
  <Default Extension="jfif"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9" d="100"/>
          <a:sy n="89" d="100"/>
        </p:scale>
        <p:origin x="370"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sahukrishna-tech/Seasonal-Agriculture-Performance-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16662" y="3638947"/>
            <a:ext cx="5660571" cy="861497"/>
          </a:xfrm>
        </p:spPr>
        <p:txBody>
          <a:bodyPr vert="horz" lIns="91440" tIns="45720" rIns="91440" bIns="45720" rtlCol="0" anchor="t">
            <a:normAutofit/>
          </a:bodyPr>
          <a:lstStyle/>
          <a:p>
            <a:pPr algn="r"/>
            <a:r>
              <a:rPr lang="en-US" dirty="0"/>
              <a:t>Sahu Krishna Chaitanya</a:t>
            </a:r>
            <a:r>
              <a:rPr lang="en-US" b="0" dirty="0">
                <a:solidFill>
                  <a:schemeClr val="tx1"/>
                </a:solidFill>
              </a:rPr>
              <a:t> </a:t>
            </a:r>
            <a:endParaRPr lang="en-IN" b="0" dirty="0">
              <a:solidFill>
                <a:schemeClr val="tx1"/>
              </a:solidFill>
            </a:endParaRPr>
          </a:p>
          <a:p>
            <a:pPr algn="r"/>
            <a:r>
              <a:rPr lang="en-US" dirty="0"/>
              <a:t>Kakinada Institute of Technology Sciences</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7309696" cy="743448"/>
          </a:xfrm>
        </p:spPr>
        <p:txBody>
          <a:bodyPr>
            <a:normAutofit fontScale="90000"/>
          </a:bodyPr>
          <a:lstStyle/>
          <a:p>
            <a:r>
              <a:rPr lang="en-US" sz="3200"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5279492" cy="369332"/>
          </a:xfrm>
          <a:prstGeom prst="rect">
            <a:avLst/>
          </a:prstGeom>
          <a:noFill/>
        </p:spPr>
        <p:txBody>
          <a:bodyPr wrap="square" rtlCol="0">
            <a:spAutoFit/>
          </a:bodyPr>
          <a:lstStyle/>
          <a:p>
            <a:r>
              <a:rPr lang="en-US" b="1" dirty="0"/>
              <a:t>AICTE STU ID : STU6789e10bbe4db1737089291</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441541" y="1992702"/>
            <a:ext cx="7391244" cy="4202541"/>
          </a:xfrm>
        </p:spPr>
        <p:txBody>
          <a:bodyPr vert="horz" lIns="91440" tIns="45720" rIns="91440" bIns="45720" rtlCol="0" anchor="t">
            <a:normAutofit/>
          </a:bodyPr>
          <a:lstStyle/>
          <a:p>
            <a:pPr marL="0" indent="0">
              <a:buNone/>
            </a:pPr>
            <a:r>
              <a:rPr lang="en-US" dirty="0"/>
              <a:t>	Agricultural activities are influenced by seasonal changes in environmental conditions, farming practices, resource availability, and market conditions. As a result, agricultural performance may differ from one season to another. However, raw agricultural data does not clearly explain how performance changes across seasons or what patterns can be seen under different seasonal conditions. The problem is to analyze the given agricultural dataset and study seasonal differences in agricultural performance by identifying meaningful patterns, trends, relationships, and variations in the available data.</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6E1AFE4D-48FD-C424-417B-58B826073673}"/>
              </a:ext>
            </a:extLst>
          </p:cNvPr>
          <p:cNvSpPr txBox="1"/>
          <p:nvPr/>
        </p:nvSpPr>
        <p:spPr>
          <a:xfrm>
            <a:off x="675957" y="2076429"/>
            <a:ext cx="7548114" cy="3693319"/>
          </a:xfrm>
          <a:prstGeom prst="rect">
            <a:avLst/>
          </a:prstGeom>
          <a:noFill/>
        </p:spPr>
        <p:txBody>
          <a:bodyPr wrap="square" rtlCol="0">
            <a:spAutoFit/>
          </a:bodyPr>
          <a:lstStyle/>
          <a:p>
            <a:pPr marL="342900" lvl="0" indent="-342900">
              <a:buFont typeface="Arial" panose="020B0604020202020204" pitchFamily="34" charset="0"/>
              <a:buChar char="•"/>
            </a:pPr>
            <a:r>
              <a:rPr lang="en-US" dirty="0"/>
              <a:t>Analyzed a dataset containing </a:t>
            </a:r>
            <a:r>
              <a:rPr lang="en-US" b="1" dirty="0"/>
              <a:t>4,000 agricultural records and 28 columns</a:t>
            </a:r>
            <a:r>
              <a:rPr lang="en-US" dirty="0"/>
              <a:t>. </a:t>
            </a:r>
          </a:p>
          <a:p>
            <a:pPr marL="342900" lvl="0" indent="-342900">
              <a:buFont typeface="Arial" panose="020B0604020202020204" pitchFamily="34" charset="0"/>
              <a:buChar char="•"/>
            </a:pPr>
            <a:r>
              <a:rPr lang="en-US" dirty="0"/>
              <a:t>Dataset includes crop, season, weather, soil, fertilizer, irrigation, yield, production, cost, revenue, profit, water usage, and pest-risk information. </a:t>
            </a:r>
          </a:p>
          <a:p>
            <a:pPr marL="342900" lvl="0" indent="-342900">
              <a:buFont typeface="Arial" panose="020B0604020202020204" pitchFamily="34" charset="0"/>
              <a:buChar char="•"/>
            </a:pPr>
            <a:r>
              <a:rPr lang="en-US" dirty="0"/>
              <a:t>Performed data cleaning, statistical analysis, EDA, correlation analysis, and seasonal comparison. </a:t>
            </a:r>
          </a:p>
          <a:p>
            <a:pPr marL="342900" lvl="0" indent="-342900">
              <a:buFont typeface="Arial" panose="020B0604020202020204" pitchFamily="34" charset="0"/>
              <a:buChar char="•"/>
            </a:pPr>
            <a:r>
              <a:rPr lang="en-US" dirty="0"/>
              <a:t>Created additional metrics such as: </a:t>
            </a:r>
          </a:p>
          <a:p>
            <a:pPr marL="800100" lvl="1" indent="-342900">
              <a:buFont typeface="Arial" panose="020B0604020202020204" pitchFamily="34" charset="0"/>
              <a:buChar char="•"/>
            </a:pPr>
            <a:r>
              <a:rPr lang="en-US" dirty="0"/>
              <a:t>ROI % </a:t>
            </a:r>
          </a:p>
          <a:p>
            <a:pPr marL="800100" lvl="1" indent="-342900">
              <a:buFont typeface="Arial" panose="020B0604020202020204" pitchFamily="34" charset="0"/>
              <a:buChar char="•"/>
            </a:pPr>
            <a:r>
              <a:rPr lang="en-US" dirty="0"/>
              <a:t>Cost per Ton </a:t>
            </a:r>
          </a:p>
          <a:p>
            <a:pPr marL="800100" lvl="1" indent="-342900">
              <a:buFont typeface="Arial" panose="020B0604020202020204" pitchFamily="34" charset="0"/>
              <a:buChar char="•"/>
            </a:pPr>
            <a:r>
              <a:rPr lang="en-US" dirty="0"/>
              <a:t>Water-Cost Ratio </a:t>
            </a:r>
          </a:p>
          <a:p>
            <a:pPr marL="342900" lvl="0" indent="-342900">
              <a:buFont typeface="Arial" panose="020B0604020202020204" pitchFamily="34" charset="0"/>
              <a:buChar char="•"/>
            </a:pPr>
            <a:r>
              <a:rPr lang="en-US" dirty="0"/>
              <a:t>Used visualizations to identify important agricultural and financial patterns. </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758446"/>
            <a:ext cx="8595169" cy="3990023"/>
          </a:xfrm>
        </p:spPr>
        <p:txBody>
          <a:bodyPr>
            <a:noAutofit/>
          </a:bodyPr>
          <a:lstStyle/>
          <a:p>
            <a:pPr lvl="0"/>
            <a:r>
              <a:rPr lang="en-US" sz="2800" dirty="0"/>
              <a:t> Farmers </a:t>
            </a:r>
          </a:p>
          <a:p>
            <a:pPr lvl="0"/>
            <a:r>
              <a:rPr lang="en-US" sz="2800" dirty="0"/>
              <a:t> Agricultural planners </a:t>
            </a:r>
          </a:p>
          <a:p>
            <a:pPr lvl="0"/>
            <a:r>
              <a:rPr lang="en-US" sz="2800" dirty="0"/>
              <a:t> Irrigation and water-management teams </a:t>
            </a:r>
          </a:p>
          <a:p>
            <a:pPr lvl="0"/>
            <a:r>
              <a:rPr lang="en-US" sz="2800" dirty="0"/>
              <a:t> Agricultural organizations </a:t>
            </a:r>
          </a:p>
          <a:p>
            <a:pPr lvl="0"/>
            <a:r>
              <a:rPr lang="en-US" sz="2800" dirty="0"/>
              <a:t> Farm/business managers </a:t>
            </a:r>
          </a:p>
          <a:p>
            <a:pPr lvl="0"/>
            <a:r>
              <a:rPr lang="en-US" sz="2800" dirty="0"/>
              <a:t> Sustainability and resource-management teams</a:t>
            </a:r>
          </a:p>
          <a:p>
            <a:pPr algn="just">
              <a:lnSpc>
                <a:spcPct val="150000"/>
              </a:lnSpc>
            </a:pPr>
            <a:endParaRPr lang="en-IN" sz="28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582149" y="1586736"/>
            <a:ext cx="8070809" cy="3942796"/>
          </a:xfrm>
        </p:spPr>
        <p:txBody>
          <a:bodyPr>
            <a:noAutofit/>
          </a:bodyPr>
          <a:lstStyle/>
          <a:p>
            <a:pPr lvl="0"/>
            <a:r>
              <a:rPr lang="en-US" b="1" dirty="0"/>
              <a:t>Python</a:t>
            </a:r>
            <a:r>
              <a:rPr lang="en-US" dirty="0"/>
              <a:t> – Data analysis and processing </a:t>
            </a:r>
          </a:p>
          <a:p>
            <a:pPr lvl="0"/>
            <a:r>
              <a:rPr lang="en-US" b="1" dirty="0"/>
              <a:t>Pandas</a:t>
            </a:r>
            <a:r>
              <a:rPr lang="en-US" dirty="0"/>
              <a:t> – Data cleaning and manipulation </a:t>
            </a:r>
          </a:p>
          <a:p>
            <a:pPr lvl="0"/>
            <a:r>
              <a:rPr lang="en-US" b="1" dirty="0"/>
              <a:t>NumPy</a:t>
            </a:r>
            <a:r>
              <a:rPr lang="en-US" dirty="0"/>
              <a:t> – Numerical analysis </a:t>
            </a:r>
          </a:p>
          <a:p>
            <a:pPr lvl="0"/>
            <a:r>
              <a:rPr lang="en-US" b="1" dirty="0"/>
              <a:t>Matplotlib</a:t>
            </a:r>
            <a:r>
              <a:rPr lang="en-US" dirty="0"/>
              <a:t> – Data visualization </a:t>
            </a:r>
          </a:p>
          <a:p>
            <a:pPr lvl="0"/>
            <a:r>
              <a:rPr lang="en-US" b="1" dirty="0"/>
              <a:t>Seaborn</a:t>
            </a:r>
            <a:r>
              <a:rPr lang="en-US" dirty="0"/>
              <a:t> – Statistical and advanced visualization </a:t>
            </a:r>
          </a:p>
          <a:p>
            <a:pPr lvl="0"/>
            <a:r>
              <a:rPr lang="en-US" b="1" dirty="0"/>
              <a:t>Google Colab</a:t>
            </a:r>
            <a:r>
              <a:rPr lang="en-US" dirty="0"/>
              <a:t> – Development and execution environment</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470583" y="345816"/>
            <a:ext cx="10926571" cy="1320189"/>
          </a:xfrm>
        </p:spPr>
        <p:txBody>
          <a:bodyPr>
            <a:normAutofit fontScale="90000"/>
          </a:bodyPr>
          <a:lstStyle/>
          <a:p>
            <a:r>
              <a:rPr lang="en-US" dirty="0"/>
              <a:t>Correlation Matrix Of Agricultural &amp; Economic Metrics</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43424B91-6920-AA81-419B-99D7B89EA0BA}"/>
              </a:ext>
            </a:extLst>
          </p:cNvPr>
          <p:cNvPicPr>
            <a:picLocks noChangeAspect="1"/>
          </p:cNvPicPr>
          <p:nvPr/>
        </p:nvPicPr>
        <p:blipFill>
          <a:blip r:embed="rId3"/>
          <a:stretch>
            <a:fillRect/>
          </a:stretch>
        </p:blipFill>
        <p:spPr>
          <a:xfrm>
            <a:off x="5760341" y="1690778"/>
            <a:ext cx="5479878" cy="4177598"/>
          </a:xfrm>
          <a:prstGeom prst="rect">
            <a:avLst/>
          </a:prstGeom>
        </p:spPr>
      </p:pic>
      <p:sp>
        <p:nvSpPr>
          <p:cNvPr id="6" name="TextBox 5">
            <a:extLst>
              <a:ext uri="{FF2B5EF4-FFF2-40B4-BE49-F238E27FC236}">
                <a16:creationId xmlns:a16="http://schemas.microsoft.com/office/drawing/2014/main" id="{9984785A-4C6F-EEC8-978D-9F31F0D6D82C}"/>
              </a:ext>
            </a:extLst>
          </p:cNvPr>
          <p:cNvSpPr txBox="1"/>
          <p:nvPr/>
        </p:nvSpPr>
        <p:spPr>
          <a:xfrm>
            <a:off x="470583" y="1884526"/>
            <a:ext cx="4660366" cy="4093428"/>
          </a:xfrm>
          <a:prstGeom prst="rect">
            <a:avLst/>
          </a:prstGeom>
          <a:noFill/>
        </p:spPr>
        <p:txBody>
          <a:bodyPr wrap="square" rtlCol="0">
            <a:spAutoFit/>
          </a:bodyPr>
          <a:lstStyle/>
          <a:p>
            <a:r>
              <a:rPr lang="en-US" sz="2000" dirty="0"/>
              <a:t>	This heatmap shows how the 24 numeric variables are related to each other. Revenue, Cost, and Profit have a strong relationship because Profit is calculated from Revenue and Cost. Water Used and Water Efficiency are also strongly related to Yield and Production. Disease/Pest Risk has a weak relationship with most economic measures. This chart helps us identify which variables are useful for further analysis. It shows relationships, not cause and effect.</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10823054" cy="830997"/>
          </a:xfrm>
        </p:spPr>
        <p:txBody>
          <a:bodyPr>
            <a:normAutofit fontScale="90000"/>
          </a:bodyPr>
          <a:lstStyle/>
          <a:p>
            <a:r>
              <a:rPr lang="en-US" dirty="0"/>
              <a:t>Univariate Distributions: Crop Yield &amp; Disease/Pest Risk</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Box 5">
            <a:extLst>
              <a:ext uri="{FF2B5EF4-FFF2-40B4-BE49-F238E27FC236}">
                <a16:creationId xmlns:a16="http://schemas.microsoft.com/office/drawing/2014/main" id="{CB5EB582-DFCA-30B5-610C-AAA3F6E44043}"/>
              </a:ext>
            </a:extLst>
          </p:cNvPr>
          <p:cNvSpPr txBox="1"/>
          <p:nvPr/>
        </p:nvSpPr>
        <p:spPr>
          <a:xfrm>
            <a:off x="536121" y="1941449"/>
            <a:ext cx="3871977" cy="3970318"/>
          </a:xfrm>
          <a:prstGeom prst="rect">
            <a:avLst/>
          </a:prstGeom>
          <a:noFill/>
        </p:spPr>
        <p:txBody>
          <a:bodyPr wrap="square" rtlCol="0">
            <a:spAutoFit/>
          </a:bodyPr>
          <a:lstStyle/>
          <a:p>
            <a:r>
              <a:rPr lang="en-US" dirty="0"/>
              <a:t>	This boxplot compares Return on Investment (ROI) across Kharif, Rabi, and Zaid seasons for different irrigation methods: Drip, Flood, Rainfed, and Sprinkler. Drip irrigation has the highest median ROI in all seasons. Zaid has the lowest overall ROI spread, while all methods show some high outliers. This suggests that drip irrigation may provide better ROI across seasons. However, results can vary from farm to farm, so it is not a guarantee.</a:t>
            </a:r>
          </a:p>
        </p:txBody>
      </p:sp>
      <p:pic>
        <p:nvPicPr>
          <p:cNvPr id="9" name="Picture 8">
            <a:extLst>
              <a:ext uri="{FF2B5EF4-FFF2-40B4-BE49-F238E27FC236}">
                <a16:creationId xmlns:a16="http://schemas.microsoft.com/office/drawing/2014/main" id="{58A4C343-1597-2C52-5E57-BC5035829539}"/>
              </a:ext>
            </a:extLst>
          </p:cNvPr>
          <p:cNvPicPr>
            <a:picLocks noChangeAspect="1"/>
          </p:cNvPicPr>
          <p:nvPr/>
        </p:nvPicPr>
        <p:blipFill>
          <a:blip r:embed="rId3"/>
          <a:stretch>
            <a:fillRect/>
          </a:stretch>
        </p:blipFill>
        <p:spPr>
          <a:xfrm>
            <a:off x="4408098" y="2083026"/>
            <a:ext cx="7273604" cy="3207432"/>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10917945" cy="830997"/>
          </a:xfrm>
        </p:spPr>
        <p:txBody>
          <a:bodyPr>
            <a:normAutofit fontScale="90000"/>
          </a:bodyPr>
          <a:lstStyle/>
          <a:p>
            <a:r>
              <a:rPr lang="en-US" dirty="0"/>
              <a:t>Regional Water Efficiency Across Seasons</a:t>
            </a:r>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563813" y="1275371"/>
            <a:ext cx="3913296" cy="4982765"/>
          </a:xfrm>
        </p:spPr>
        <p:txBody>
          <a:bodyPr>
            <a:noAutofit/>
          </a:bodyPr>
          <a:lstStyle/>
          <a:p>
            <a:pPr marL="0" indent="0">
              <a:buNone/>
            </a:pPr>
            <a:r>
              <a:rPr lang="en-US" dirty="0"/>
              <a:t>	This bar chart shows how many tons are produced using 1000m³ of water in different states and seasons. Some states, such as Punjab in Rabi and Gujarat in Kharif, have better water efficiency than others. The best season for water efficiency also differs from state to state. This shows that water efficiency can vary by region. However, the dataset does not explain the exact reasons, which could include soil, irrigation systems, or crop selection.</a:t>
            </a:r>
            <a:endParaRPr lang="en-IN" dirty="0"/>
          </a:p>
        </p:txBody>
      </p:sp>
      <p:pic>
        <p:nvPicPr>
          <p:cNvPr id="6" name="Picture 5">
            <a:extLst>
              <a:ext uri="{FF2B5EF4-FFF2-40B4-BE49-F238E27FC236}">
                <a16:creationId xmlns:a16="http://schemas.microsoft.com/office/drawing/2014/main" id="{9DEF712D-B7EA-4559-6791-CF3AA75FCDC1}"/>
              </a:ext>
            </a:extLst>
          </p:cNvPr>
          <p:cNvPicPr>
            <a:picLocks noChangeAspect="1"/>
          </p:cNvPicPr>
          <p:nvPr/>
        </p:nvPicPr>
        <p:blipFill>
          <a:blip r:embed="rId3"/>
          <a:stretch>
            <a:fillRect/>
          </a:stretch>
        </p:blipFill>
        <p:spPr>
          <a:xfrm>
            <a:off x="4477109" y="2065535"/>
            <a:ext cx="7585494" cy="3277429"/>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477548" y="470630"/>
            <a:ext cx="11219869" cy="830997"/>
          </a:xfrm>
        </p:spPr>
        <p:txBody>
          <a:bodyPr>
            <a:normAutofit fontScale="90000"/>
          </a:bodyPr>
          <a:lstStyle/>
          <a:p>
            <a:r>
              <a:rPr lang="en-US" dirty="0"/>
              <a:t>Primary Soil Nutrients (NPK) vs Crop Yield</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477548" y="3709551"/>
            <a:ext cx="9373817" cy="1983883"/>
          </a:xfrm>
        </p:spPr>
        <p:txBody>
          <a:bodyPr>
            <a:normAutofit/>
          </a:bodyPr>
          <a:lstStyle/>
          <a:p>
            <a:pPr marL="0" indent="0">
              <a:buNone/>
            </a:pPr>
            <a:r>
              <a:rPr lang="en-US" dirty="0"/>
              <a:t>nutrients have a positive but weak relationship with yield. Yield increases only slightly as nutrient levels increase. Most of the yield differences happen at lower nutrient levels, while higher nutrient levels show smaller improvements. This suggests that using more fertilizer beyond a certain point may not increase yield much. Other factors such as weather, soil quality, and disease may have a bigger effect on yield.</a:t>
            </a:r>
            <a:endParaRPr lang="en-IN" dirty="0"/>
          </a:p>
        </p:txBody>
      </p:sp>
      <p:pic>
        <p:nvPicPr>
          <p:cNvPr id="2" name="Picture 1">
            <a:extLst>
              <a:ext uri="{FF2B5EF4-FFF2-40B4-BE49-F238E27FC236}">
                <a16:creationId xmlns:a16="http://schemas.microsoft.com/office/drawing/2014/main" id="{D4661113-960F-03D2-BFD4-FF1965995AB2}"/>
              </a:ext>
            </a:extLst>
          </p:cNvPr>
          <p:cNvPicPr>
            <a:picLocks noChangeAspect="1"/>
          </p:cNvPicPr>
          <p:nvPr/>
        </p:nvPicPr>
        <p:blipFill>
          <a:blip r:embed="rId3"/>
          <a:stretch>
            <a:fillRect/>
          </a:stretch>
        </p:blipFill>
        <p:spPr>
          <a:xfrm>
            <a:off x="3298387" y="1275371"/>
            <a:ext cx="8457606" cy="2360395"/>
          </a:xfrm>
          <a:prstGeom prst="rect">
            <a:avLst/>
          </a:prstGeom>
        </p:spPr>
      </p:pic>
      <p:sp>
        <p:nvSpPr>
          <p:cNvPr id="3" name="TextBox 2">
            <a:extLst>
              <a:ext uri="{FF2B5EF4-FFF2-40B4-BE49-F238E27FC236}">
                <a16:creationId xmlns:a16="http://schemas.microsoft.com/office/drawing/2014/main" id="{533ECE9D-5120-BEFD-B59B-49F285B4F68E}"/>
              </a:ext>
            </a:extLst>
          </p:cNvPr>
          <p:cNvSpPr txBox="1"/>
          <p:nvPr/>
        </p:nvSpPr>
        <p:spPr>
          <a:xfrm>
            <a:off x="477548" y="1770559"/>
            <a:ext cx="2845376" cy="1938992"/>
          </a:xfrm>
          <a:prstGeom prst="rect">
            <a:avLst/>
          </a:prstGeom>
          <a:noFill/>
        </p:spPr>
        <p:txBody>
          <a:bodyPr wrap="square" rtlCol="0">
            <a:spAutoFit/>
          </a:bodyPr>
          <a:lstStyle/>
          <a:p>
            <a:r>
              <a:rPr lang="en-US" sz="2000" dirty="0"/>
              <a:t>	These three scatterplots show the relationship between Nitrogen, Phosphorus, Potassium, and crop yield. All three </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399912" y="318792"/>
            <a:ext cx="11030088" cy="1570860"/>
          </a:xfrm>
        </p:spPr>
        <p:txBody>
          <a:bodyPr>
            <a:normAutofit fontScale="90000"/>
          </a:bodyPr>
          <a:lstStyle/>
          <a:p>
            <a:r>
              <a:rPr lang="en-US" dirty="0"/>
              <a:t>Seasonal Dashboard </a:t>
            </a:r>
            <a:r>
              <a:rPr lang="en-US" sz="4000" dirty="0"/>
              <a:t>(Profit, Yield Distribution, Risk vs Profit, and Key Correlations)</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399911" y="1819881"/>
            <a:ext cx="5267307" cy="4600242"/>
          </a:xfrm>
        </p:spPr>
        <p:txBody>
          <a:bodyPr>
            <a:noAutofit/>
          </a:bodyPr>
          <a:lstStyle/>
          <a:p>
            <a:pPr marL="0" indent="0">
              <a:buNone/>
            </a:pPr>
            <a:r>
              <a:rPr lang="en-US" sz="1800" dirty="0"/>
              <a:t>	This 4-panel dashboard gives a quick view of seasonal performance. Kharif has the highest average profit and the highest median yield, but it also has the widest yield variation and more outliers. Disease/Pest Risk and Profit do not show a clear relationship because the points are spread across different risk levels. The correlation panel shows that Profit is strongly related to Revenue and ROI, but less related to Water Use and Risk. Overall, this dashboard is useful for understanding which season performs best and the factors related to it. However, it shows relationships between variables and does not prove that the season itself causes these differences.</a:t>
            </a:r>
            <a:endParaRPr lang="en-IN" sz="1800" dirty="0"/>
          </a:p>
        </p:txBody>
      </p:sp>
      <p:pic>
        <p:nvPicPr>
          <p:cNvPr id="2" name="Picture 1">
            <a:extLst>
              <a:ext uri="{FF2B5EF4-FFF2-40B4-BE49-F238E27FC236}">
                <a16:creationId xmlns:a16="http://schemas.microsoft.com/office/drawing/2014/main" id="{349A8807-0340-ADEC-3D6A-D3DB12DA5D48}"/>
              </a:ext>
            </a:extLst>
          </p:cNvPr>
          <p:cNvPicPr>
            <a:picLocks noChangeAspect="1"/>
          </p:cNvPicPr>
          <p:nvPr/>
        </p:nvPicPr>
        <p:blipFill>
          <a:blip r:embed="rId3"/>
          <a:stretch>
            <a:fillRect/>
          </a:stretch>
        </p:blipFill>
        <p:spPr>
          <a:xfrm>
            <a:off x="5667219" y="1699142"/>
            <a:ext cx="6266974" cy="4684405"/>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788101" y="681425"/>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9D00604B-5FBE-FFDC-646E-700B2A1A9740}"/>
              </a:ext>
            </a:extLst>
          </p:cNvPr>
          <p:cNvSpPr txBox="1"/>
          <p:nvPr/>
        </p:nvSpPr>
        <p:spPr>
          <a:xfrm>
            <a:off x="862643" y="1941449"/>
            <a:ext cx="7487727" cy="419082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t>Add real-time weather and market-price data. </a:t>
            </a:r>
          </a:p>
          <a:p>
            <a:pPr marL="285750" lvl="0" indent="-285750">
              <a:lnSpc>
                <a:spcPct val="150000"/>
              </a:lnSpc>
              <a:buFont typeface="Arial" panose="020B0604020202020204" pitchFamily="34" charset="0"/>
              <a:buChar char="•"/>
            </a:pPr>
            <a:r>
              <a:rPr lang="en-US" sz="2000" dirty="0"/>
              <a:t>Develop a </a:t>
            </a:r>
            <a:r>
              <a:rPr lang="en-US" sz="2000" b="1" dirty="0"/>
              <a:t>seasonal crop recommendation system</a:t>
            </a:r>
            <a:r>
              <a:rPr lang="en-US" sz="2000" dirty="0"/>
              <a:t>. </a:t>
            </a:r>
          </a:p>
          <a:p>
            <a:pPr marL="285750" lvl="0" indent="-285750">
              <a:lnSpc>
                <a:spcPct val="150000"/>
              </a:lnSpc>
              <a:buFont typeface="Arial" panose="020B0604020202020204" pitchFamily="34" charset="0"/>
              <a:buChar char="•"/>
            </a:pPr>
            <a:r>
              <a:rPr lang="en-US" sz="2000" dirty="0"/>
              <a:t>Build predictive models for </a:t>
            </a:r>
            <a:r>
              <a:rPr lang="en-US" sz="2000" b="1" dirty="0"/>
              <a:t>yield and profit forecasting</a:t>
            </a:r>
            <a:r>
              <a:rPr lang="en-US" sz="2000" dirty="0"/>
              <a:t>. </a:t>
            </a:r>
          </a:p>
          <a:p>
            <a:pPr marL="285750" lvl="0" indent="-285750">
              <a:lnSpc>
                <a:spcPct val="150000"/>
              </a:lnSpc>
              <a:buFont typeface="Arial" panose="020B0604020202020204" pitchFamily="34" charset="0"/>
              <a:buChar char="•"/>
            </a:pPr>
            <a:r>
              <a:rPr lang="en-US" sz="2000" dirty="0"/>
              <a:t>Use historical weather data for better seasonal prediction. </a:t>
            </a:r>
          </a:p>
          <a:p>
            <a:pPr marL="285750" lvl="0" indent="-285750">
              <a:lnSpc>
                <a:spcPct val="150000"/>
              </a:lnSpc>
              <a:buFont typeface="Arial" panose="020B0604020202020204" pitchFamily="34" charset="0"/>
              <a:buChar char="•"/>
            </a:pPr>
            <a:r>
              <a:rPr lang="en-US" sz="2000" dirty="0"/>
              <a:t>Develop an interactive dashboard using </a:t>
            </a:r>
            <a:r>
              <a:rPr lang="en-US" sz="2000" b="1" dirty="0"/>
              <a:t>Power BI/Tableau</a:t>
            </a:r>
            <a:r>
              <a:rPr lang="en-US" sz="2000" dirty="0"/>
              <a:t>. </a:t>
            </a:r>
          </a:p>
          <a:p>
            <a:pPr marL="285750" lvl="0" indent="-285750">
              <a:lnSpc>
                <a:spcPct val="150000"/>
              </a:lnSpc>
              <a:buFont typeface="Arial" panose="020B0604020202020204" pitchFamily="34" charset="0"/>
              <a:buChar char="•"/>
            </a:pPr>
            <a:r>
              <a:rPr lang="en-US" sz="2000" dirty="0"/>
              <a:t>Improve irrigation recommendations using water-efficiency analysis. </a:t>
            </a:r>
          </a:p>
          <a:p>
            <a:pPr marL="285750" lvl="0" indent="-285750">
              <a:lnSpc>
                <a:spcPct val="150000"/>
              </a:lnSpc>
              <a:buFont typeface="Arial" panose="020B0604020202020204" pitchFamily="34" charset="0"/>
              <a:buChar char="•"/>
            </a:pPr>
            <a:r>
              <a:rPr lang="en-US" sz="2000" dirty="0"/>
              <a:t>Develop early-warning models for disease and pest risk.</a:t>
            </a:r>
          </a:p>
          <a:p>
            <a:pPr marL="285750" indent="-285750">
              <a:lnSpc>
                <a:spcPct val="150000"/>
              </a:lnSpc>
              <a:buFont typeface="Arial" panose="020B0604020202020204" pitchFamily="34" charset="0"/>
              <a:buChar char="•"/>
            </a:pPr>
            <a:endParaRPr lang="en-US"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577B67F8-C817-4F0E-72A9-6471B75DEC49}"/>
              </a:ext>
            </a:extLst>
          </p:cNvPr>
          <p:cNvSpPr txBox="1"/>
          <p:nvPr/>
        </p:nvSpPr>
        <p:spPr>
          <a:xfrm>
            <a:off x="984210" y="4022018"/>
            <a:ext cx="8890960" cy="369332"/>
          </a:xfrm>
          <a:prstGeom prst="rect">
            <a:avLst/>
          </a:prstGeom>
          <a:noFill/>
        </p:spPr>
        <p:txBody>
          <a:bodyPr wrap="none" rtlCol="0">
            <a:spAutoFit/>
          </a:bodyPr>
          <a:lstStyle/>
          <a:p>
            <a:r>
              <a:rPr lang="en-US" dirty="0">
                <a:hlinkClick r:id="rId3"/>
              </a:rPr>
              <a:t>https://github.com/sahukrishna-tech/Seasonal-Agriculture-Performance-Analysis</a:t>
            </a:r>
            <a:endParaRPr lang="en-US" dirty="0"/>
          </a:p>
        </p:txBody>
      </p:sp>
      <p:sp>
        <p:nvSpPr>
          <p:cNvPr id="3" name="TextBox 2">
            <a:extLst>
              <a:ext uri="{FF2B5EF4-FFF2-40B4-BE49-F238E27FC236}">
                <a16:creationId xmlns:a16="http://schemas.microsoft.com/office/drawing/2014/main" id="{46432A79-8EFA-F34D-709D-FF71D944877A}"/>
              </a:ext>
            </a:extLst>
          </p:cNvPr>
          <p:cNvSpPr txBox="1"/>
          <p:nvPr/>
        </p:nvSpPr>
        <p:spPr>
          <a:xfrm>
            <a:off x="984210" y="1608410"/>
            <a:ext cx="2894510" cy="2805833"/>
          </a:xfrm>
          <a:prstGeom prst="rect">
            <a:avLst/>
          </a:prstGeom>
          <a:noFill/>
        </p:spPr>
        <p:txBody>
          <a:bodyPr wrap="none" rtlCol="0">
            <a:spAutoFit/>
          </a:bodyPr>
          <a:lstStyle/>
          <a:p>
            <a:pPr>
              <a:lnSpc>
                <a:spcPct val="150000"/>
              </a:lnSpc>
            </a:pPr>
            <a:r>
              <a:rPr lang="en-US" sz="2000" b="1" dirty="0"/>
              <a:t>Repository contains:</a:t>
            </a:r>
            <a:endParaRPr lang="en-US" sz="2000" dirty="0"/>
          </a:p>
          <a:p>
            <a:pPr lvl="0">
              <a:lnSpc>
                <a:spcPct val="150000"/>
              </a:lnSpc>
            </a:pPr>
            <a:r>
              <a:rPr lang="en-US" sz="2000" dirty="0"/>
              <a:t>Colab notebook </a:t>
            </a:r>
          </a:p>
          <a:p>
            <a:pPr lvl="0">
              <a:lnSpc>
                <a:spcPct val="150000"/>
              </a:lnSpc>
            </a:pPr>
            <a:r>
              <a:rPr lang="en-US" sz="2000" dirty="0"/>
              <a:t>Dataset</a:t>
            </a:r>
          </a:p>
          <a:p>
            <a:pPr lvl="0">
              <a:lnSpc>
                <a:spcPct val="150000"/>
              </a:lnSpc>
            </a:pPr>
            <a:r>
              <a:rPr lang="en-US" sz="2000" dirty="0"/>
              <a:t>problem  statement</a:t>
            </a:r>
          </a:p>
          <a:p>
            <a:pPr lvl="0">
              <a:lnSpc>
                <a:spcPct val="150000"/>
              </a:lnSpc>
            </a:pPr>
            <a:r>
              <a:rPr lang="en-US" sz="2000" dirty="0"/>
              <a:t>Project documentation </a:t>
            </a:r>
          </a:p>
          <a:p>
            <a:pPr>
              <a:lnSpc>
                <a:spcPct val="150000"/>
              </a:lnSpc>
            </a:pPr>
            <a:endParaRPr lang="en-US" sz="20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a:t>
            </a:r>
            <a:br>
              <a:rPr lang="en-IN" sz="3200" dirty="0"/>
            </a:br>
            <a:r>
              <a:rPr lang="en-IN" sz="3200" b="0" dirty="0"/>
              <a:t>Course name -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5FED9B33-9F1C-0E85-6C25-407700AA8023}"/>
              </a:ext>
            </a:extLst>
          </p:cNvPr>
          <p:cNvPicPr>
            <a:picLocks noChangeAspect="1"/>
          </p:cNvPicPr>
          <p:nvPr/>
        </p:nvPicPr>
        <p:blipFill>
          <a:blip r:embed="rId3"/>
          <a:stretch>
            <a:fillRect/>
          </a:stretch>
        </p:blipFill>
        <p:spPr>
          <a:xfrm>
            <a:off x="1842236" y="1507767"/>
            <a:ext cx="7060224" cy="4979644"/>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1456491" y="3835412"/>
            <a:ext cx="4314308" cy="1506574"/>
          </a:xfrm>
        </p:spPr>
        <p:txBody>
          <a:bodyPr>
            <a:normAutofit/>
          </a:bodyPr>
          <a:lstStyle/>
          <a:p>
            <a:pPr algn="l"/>
            <a:r>
              <a:rPr lang="en-US" b="0" dirty="0"/>
              <a:t>Submitted by:</a:t>
            </a:r>
            <a:br>
              <a:rPr lang="en-US" dirty="0"/>
            </a:br>
            <a:r>
              <a:rPr lang="en-US" dirty="0"/>
              <a:t>Sahu Krishna Chaitanya</a:t>
            </a: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nodePh="1">
                                  <p:stCondLst>
                                    <p:cond delay="0"/>
                                  </p:stCondLst>
                                  <p:endCondLst>
                                    <p:cond evt="begin" delay="0">
                                      <p:tn val="18"/>
                                    </p:cond>
                                  </p:endCondLst>
                                  <p:childTnLst>
                                    <p:set>
                                      <p:cBhvr>
                                        <p:cTn id="19" dur="1" fill="hold">
                                          <p:stCondLst>
                                            <p:cond delay="0"/>
                                          </p:stCondLst>
                                        </p:cTn>
                                        <p:tgtEl>
                                          <p:spTgt spid="20"/>
                                        </p:tgtEl>
                                        <p:attrNameLst>
                                          <p:attrName>style.visibility</p:attrName>
                                        </p:attrNameLst>
                                      </p:cBhvr>
                                      <p:to>
                                        <p:strVal val="visible"/>
                                      </p:to>
                                    </p:set>
                                    <p:anim calcmode="lin" valueType="num">
                                      <p:cBhvr additive="base">
                                        <p:cTn id="20" dur="500"/>
                                        <p:tgtEl>
                                          <p:spTgt spid="20"/>
                                        </p:tgtEl>
                                        <p:attrNameLst>
                                          <p:attrName>ppt_y</p:attrName>
                                        </p:attrNameLst>
                                      </p:cBhvr>
                                      <p:tavLst>
                                        <p:tav tm="0">
                                          <p:val>
                                            <p:strVal val="#ppt_y+#ppt_h*1.125000"/>
                                          </p:val>
                                        </p:tav>
                                        <p:tav tm="100000">
                                          <p:val>
                                            <p:strVal val="#ppt_y"/>
                                          </p:val>
                                        </p:tav>
                                      </p:tavLst>
                                    </p:anim>
                                    <p:animEffect transition="in" filter="wipe(up)">
                                      <p:cBhvr>
                                        <p:cTn id="21" dur="5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p:tgtEl>
                                          <p:spTgt spid="30"/>
                                        </p:tgtEl>
                                        <p:attrNameLst>
                                          <p:attrName>ppt_y</p:attrName>
                                        </p:attrNameLst>
                                      </p:cBhvr>
                                      <p:tavLst>
                                        <p:tav tm="0">
                                          <p:val>
                                            <p:strVal val="#ppt_y+#ppt_h*1.125000"/>
                                          </p:val>
                                        </p:tav>
                                        <p:tav tm="100000">
                                          <p:val>
                                            <p:strVal val="#ppt_y"/>
                                          </p:val>
                                        </p:tav>
                                      </p:tavLst>
                                    </p:anim>
                                    <p:animEffect transition="in" filter="wipe(up)">
                                      <p:cBhvr>
                                        <p:cTn id="27" dur="500"/>
                                        <p:tgtEl>
                                          <p:spTgt spid="3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23"/>
                                        </p:tgtEl>
                                        <p:attrNameLst>
                                          <p:attrName>style.visibility</p:attrName>
                                        </p:attrNameLst>
                                      </p:cBhvr>
                                      <p:to>
                                        <p:strVal val="visible"/>
                                      </p:to>
                                    </p:set>
                                    <p:anim calcmode="lin" valueType="num">
                                      <p:cBhvr additive="base">
                                        <p:cTn id="32" dur="500"/>
                                        <p:tgtEl>
                                          <p:spTgt spid="23"/>
                                        </p:tgtEl>
                                        <p:attrNameLst>
                                          <p:attrName>ppt_y</p:attrName>
                                        </p:attrNameLst>
                                      </p:cBhvr>
                                      <p:tavLst>
                                        <p:tav tm="0">
                                          <p:val>
                                            <p:strVal val="#ppt_y+#ppt_h*1.125000"/>
                                          </p:val>
                                        </p:tav>
                                        <p:tav tm="100000">
                                          <p:val>
                                            <p:strVal val="#ppt_y"/>
                                          </p:val>
                                        </p:tav>
                                      </p:tavLst>
                                    </p:anim>
                                    <p:animEffect transition="in" filter="wipe(up)">
                                      <p:cBhvr>
                                        <p:cTn id="33" dur="500"/>
                                        <p:tgtEl>
                                          <p:spTgt spid="23"/>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32"/>
                                        </p:tgtEl>
                                        <p:attrNameLst>
                                          <p:attrName>style.visibility</p:attrName>
                                        </p:attrNameLst>
                                      </p:cBhvr>
                                      <p:to>
                                        <p:strVal val="visible"/>
                                      </p:to>
                                    </p:set>
                                    <p:anim calcmode="lin" valueType="num">
                                      <p:cBhvr additive="base">
                                        <p:cTn id="38" dur="500"/>
                                        <p:tgtEl>
                                          <p:spTgt spid="32"/>
                                        </p:tgtEl>
                                        <p:attrNameLst>
                                          <p:attrName>ppt_y</p:attrName>
                                        </p:attrNameLst>
                                      </p:cBhvr>
                                      <p:tavLst>
                                        <p:tav tm="0">
                                          <p:val>
                                            <p:strVal val="#ppt_y+#ppt_h*1.125000"/>
                                          </p:val>
                                        </p:tav>
                                        <p:tav tm="100000">
                                          <p:val>
                                            <p:strVal val="#ppt_y"/>
                                          </p:val>
                                        </p:tav>
                                      </p:tavLst>
                                    </p:anim>
                                    <p:animEffect transition="in" filter="wipe(up)">
                                      <p:cBhvr>
                                        <p:cTn id="3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684</TotalTime>
  <Words>876</Words>
  <Application>Microsoft Office PowerPoint</Application>
  <PresentationFormat>Widescreen</PresentationFormat>
  <Paragraphs>59</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Seasonal Agriculture Performance Analysis</vt:lpstr>
      <vt:lpstr>PROBLEM  STATEMENT</vt:lpstr>
      <vt:lpstr>PROJECT DESCRIPTION</vt:lpstr>
      <vt:lpstr>WHO ARE THE END USERS?</vt:lpstr>
      <vt:lpstr>Technology Used</vt:lpstr>
      <vt:lpstr>Correlation Matrix Of Agricultural &amp; Economic Metrics</vt:lpstr>
      <vt:lpstr>Univariate Distributions: Crop Yield &amp; Disease/Pest Risk</vt:lpstr>
      <vt:lpstr>Regional Water Efficiency Across Seasons</vt:lpstr>
      <vt:lpstr>Primary Soil Nutrients (NPK) vs Crop Yield</vt:lpstr>
      <vt:lpstr>Seasonal Dashboard (Profit, Yield Distribution, Risk vs Profit, and Key Correlations)</vt:lpstr>
      <vt:lpstr>Future scope</vt:lpstr>
      <vt:lpstr>GitHub Link</vt:lpstr>
      <vt:lpstr>VOIS Course completion certificate  Course name -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krishna chaitanya sahu</cp:lastModifiedBy>
  <cp:revision>100</cp:revision>
  <dcterms:created xsi:type="dcterms:W3CDTF">2021-07-11T13:13:15Z</dcterms:created>
  <dcterms:modified xsi:type="dcterms:W3CDTF">2026-09-08T07:27:42Z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